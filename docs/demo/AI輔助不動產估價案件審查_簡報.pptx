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痛點原句來自命題文件。強調：表單多、基準表因案而異、跨表抄填。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規則引擎是確定性的；語言模型只做文件抽取與意見書潤飾。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v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6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09160"/>
            <a:ext cx="8686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AI 輔助不動產估價案件審查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4068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CE1E6"/>
                </a:solidFill>
                <a:latin typeface="Microsoft JhengHei"/>
              </a:rPr>
              <a:t>土地徵收補償市價查估・估價案件審查輔助系統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2A7D8"/>
                </a:solidFill>
                <a:latin typeface="Microsoft JhengHei"/>
              </a:rPr>
              <a:t>新北市政府地政局命題　｜　2026 新北市 AI 智慧城市黑客松競賽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480060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隊名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539496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5CE1E6"/>
                </a:solidFill>
                <a:latin typeface="Microsoft JhengHei"/>
              </a:rPr>
              <a:t>吳昭奇　洪湛閎　丁家麒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現況與痛點（引自地政局命題文件）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為什麼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6583680" cy="18288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3093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3412"/>
                </a:solidFill>
                <a:latin typeface="Microsoft JhengHei"/>
              </a:rPr>
              <a:t>「審查人員須人工比對多張表單（如地價區段勘查表、影響地價區域因素分析明細表、比較法調查估價表），逐項核算距離、級距、修正率與加總結果，不僅作業時間長，且容易因人工判讀或抄填錯誤影響審查品質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65836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痛點 1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估價書表涉及表單眾多，人工逐項比對耗時且易發生疏漏。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痛點 2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區域因素與個別因素需依不同用地類別基準明細表判定，人工判讀一致性不易維持。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痛點 3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修正率加總及跨表抄填（如區域因素總修正數）容易出現計算或填載錯誤。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預期成果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透過 AI 輔助完成估價書填寫流程；降低人工審查時間與錯誤率，提升效率與一致性。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4640" y="1180538"/>
            <a:ext cx="2218560" cy="3125323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lat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192538"/>
            <a:ext cx="2194560" cy="31013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80640" y="1954742"/>
            <a:ext cx="2218560" cy="1576915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mplate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966742"/>
            <a:ext cx="2194560" cy="15529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020961" y="4422840"/>
            <a:ext cx="1251917" cy="176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blem_sta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961" y="4434840"/>
            <a:ext cx="1227917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6640" y="420624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上：查估書表範本第 1、3 頁　下：命題文件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我們做什麼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2A7D8"/>
                </a:solidFill>
                <a:latin typeface="Microsoft JhengHei"/>
              </a:rPr>
              <a:t>把「勘查表事實 → 優劣等級 → 修正率 → 加總 → 跨表抄填」這條鏈自動化，並反向審查：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2A7D8"/>
                </a:solidFill>
                <a:latin typeface="Microsoft JhengHei"/>
              </a:rPr>
              <a:t>比對估價師填的表與規則算出的表，逐條指出不一致並引用依據。沒有書表時，只給地號也能先產出一版。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① 輸入資料</a:t>
            </a:r>
          </a:p>
          <a:p>
            <a:pPr algn="ctr"/>
            <a:r>
              <a:rPr sz="1300" b="0">
                <a:solidFill>
                  <a:srgbClr val="F2A7D8"/>
                </a:solidFill>
                <a:latin typeface="Microsoft JhengHei"/>
              </a:rPr>
              <a:t>送審書表 PDF／年期與地號
／評價基準明細表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3794760"/>
            <a:ext cx="32004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29260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② 產出書表</a:t>
            </a:r>
          </a:p>
          <a:p>
            <a:pPr algn="ctr"/>
            <a:r>
              <a:rPr sz="1300" b="0">
                <a:solidFill>
                  <a:srgbClr val="F2A7D8"/>
                </a:solidFill>
                <a:latin typeface="Microsoft JhengHei"/>
              </a:rPr>
              <a:t>依基準表判等級、修正率
與價格鏈，重算六頁書表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3794760"/>
            <a:ext cx="32004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29260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③ 審查</a:t>
            </a:r>
          </a:p>
          <a:p>
            <a:pPr algn="ctr"/>
            <a:r>
              <a:rPr sz="1300" b="0">
                <a:solidFill>
                  <a:srgbClr val="F2A7D8"/>
                </a:solidFill>
                <a:latin typeface="Microsoft JhengHei"/>
              </a:rPr>
              <a:t>逐格比對填載值與核算值
標出不符與依據，承辦裁決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23960" y="3794760"/>
            <a:ext cx="32004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29260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④ 輸出</a:t>
            </a:r>
          </a:p>
          <a:p>
            <a:pPr algn="ctr"/>
            <a:r>
              <a:rPr sz="1300" b="0">
                <a:solidFill>
                  <a:srgbClr val="F2A7D8"/>
                </a:solidFill>
                <a:latin typeface="Microsoft JhengHei"/>
              </a:rPr>
              <a:t>書表 Excel／PDF、意見書
Word／PDF、三張圖說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入口：送審書表 PDF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估價單位送來的六頁書表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1206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入口：範例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相符／含填載錯誤／僅勘查表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1206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入口：年期＋地號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沒有書表時一鍵產出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設計原則與資料基礎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數字可追溯、推定不判錯、資料在本機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四個不可違反的原則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設計原則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① 規則引擎確定性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每一個等級與修正率都指回基準表 JSON 的某一格；語言模型不碰數字。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② 算式對回法源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每條算式對回土地徵收補償市價查估辦法條號、作業手冊印刷頁碼（docs/07 對照表）。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③ 推定只標「需確認」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圖資推定值與範本本身疑點一律「需確認」，不判錯；估價師填值優先。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④ 資料在本機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路網、設施、分區、實價登錄、指數全部預先下載，不依賴外部 API；底圖瓦片有快取。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777497"/>
            <a:ext cx="6516240" cy="3668766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le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89497"/>
            <a:ext cx="6492240" cy="36447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評價基準明細表判定條件與修正矩陣格位：每個修正率都能點回這裡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法規與規則來源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設計原則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查估辦法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土地徵收補償市價查估辦法 §5、§7、§13、§17、§18、§19、§20、§21。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作業手冊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土地徵收補償市價查估作業手冊，頁碼校正到印刷頁；p.100–102 官方算例當第二組驗收。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技術規則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不動產估價技術規則為一般規定，與查估辦法衝突時依查估辦法（§25、§26、§27、§48–§67、§98、§100 已對照）。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第四號公報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估價師公會全聯會第四號公報 113.12.11：建物成本、耐用年數、殘價率。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基準表與上限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評價基準明細表是資料不是程式，換區換用地別只換 JSON；內政部評價基準表上限只提醒。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建蔽率容積率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施行細則附表一、附表三＋各計畫區土管要點自動抽取（48 個計畫區）。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3589" y="1176720"/>
            <a:ext cx="6029222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put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589" y="1188720"/>
            <a:ext cx="600522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評價基準明細表分頁：匯入地政局 PDF 自動解析成規則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圖資與開放資料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設計原則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底圖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國土測繪中心通用版電子地圖與段籍圖（瓦片快取，金山一帶離線可用）。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路網與設施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OpenStreetMap 全新北市路網、步行圖、95,696 筆設施、367 萬筆門牌。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分區與地籍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城鄉局都市計畫使用分區；地籍圖匯入圖檔或預載。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市場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內政部實價登錄、都市地價指數、新北市營造工程物價指數。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環境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水利署淹水潛勢、環境部列管污染源、經濟部商圈、交通局路邊停車格、高公局交流道、中油加油站。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每筆距離帶來源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資料集名稱、量測方式（步行／直線）、起點約定，畫面與書表都看得到。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3589" y="1176720"/>
            <a:ext cx="6029222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_inter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589" y="1188720"/>
            <a:ext cx="600522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地圖互動檢視：右側每筆接近條件標來源與量測方式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案件總覽與三種入口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送審書表 PDF／年期與地號／範例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案件總覽：承辦的儀表板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案件總覽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五個數字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全部案件、審查中、待處理不符項、產出已過期、已完成。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兩張入口卡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審查送審書表（拖 PDF）、一鍵建案（依地號產生書表）。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案件清單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審查結果、比較價格、產出是否最新、最後操作、依狀態給「下一步」按鈕。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封存取代刪除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資料與紀錄都保留，可復原。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操作身分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左下填姓名與角色，寫進操作紀錄與意見書落款。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345630"/>
            <a:ext cx="6516240" cy="453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57630"/>
            <a:ext cx="6492240" cy="450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案件總覽首頁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入口 A：上傳送審書表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案件總覽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拖進六頁 PDF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文字層直接讀取；掃描件走影像辨識。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先預覽再建案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每頁辨識到哪一表、案號、比準地、比較標的件數、缺漏欄位、低信心欄位、提醒。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建立案件並開始審查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建案同時補地籍界線與區段範圍，直接進審查頁。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範本實測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六頁範本文字層還原 99%，缺漏 0、低信心 0。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2508823"/>
            <a:ext cx="6516240" cy="2206114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por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520823"/>
            <a:ext cx="6492240" cy="21821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辨識結果預覽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入口 B：一鍵建案（依地號產生書表）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案件總覽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只填五格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案號、估價基準日、鄉鎮市區、比準地地號、用地別。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約 30 秒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地籍界線 → 宗地屬性推定 → 區段範圍（路網推估街廓）→ 勘查表 28 欄 → 設施距離 → 實價登錄比較標的 3 件。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沒有地號也行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填區段範圍文字，系統圍出區段並依 §18 選比準地。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估價師從「改」開始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推定值全部標示，不是從空白填起。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453252"/>
            <a:ext cx="6516240" cy="4317255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nekey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5252"/>
            <a:ext cx="6492240" cy="4293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一鍵建案表單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入口 C：範例與其他可上傳的資料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案件總覽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範例一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金山區 P002-00 地價區段，送審書表填載與系統核算相符。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範例二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同一案但含填載錯誤：看不符項、承辦裁決與意見書。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範例三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僅有年期、區段編號、區段範圍的勘查表，由圖資推算其餘欄位。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還能上傳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宗地個別因素清冊 xlsx、買賣實例 xlsx、評價基準明細表 PDF／CSV／JSON、地籍圖（GeoJSON／KML／GML／SHP zip）、地價區段圖。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匯入規則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依地號併入、只覆蓋有值欄位、對不到的回報。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2147668"/>
            <a:ext cx="6516240" cy="2928423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59668"/>
            <a:ext cx="6492240" cy="29044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案件清單：狀態、審查結果、比較價格、產出、最後操作、下一步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案件與地價區段／宗地條件與買賣實例／評價基準明細表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案件與地價區段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案件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案號、基準日、估價師簽章欄、填寫日期、比準地地號、用地別、適用基準表。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地價區段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區段編號、範圍文字、勘查日期；範圍多邊形與比準地位置。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位置與設施距離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匯入地價區段圖、匯入地籍圖、補上送審書表 PDF、重新量測設施距離。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替代方式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沒有圖檔時：點圖推估街廓、人工標定設施，結果標示為草稿。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依地號產生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可選擇是否覆寫已填值。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1936" y="1176720"/>
            <a:ext cx="4552528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put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936" y="1188720"/>
            <a:ext cx="4528528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案件與地價區段分頁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填寫結果清單：每個欄位從哪裡來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四種狀態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資料（匯入或填載）、量測（圖資量出）、推定（系統規則）、空白（需人工填載）。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來源與說明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每列寫資料集名稱與推定理由，例如「最小外接矩形與面前道路平行之邊」。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一眼看缺什麼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頂端統計：資料 4、量測 39、推定 52、空白 12。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推定門檻公開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全部寫在 docs/07，讓人能質疑。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94904" y="1176720"/>
            <a:ext cx="5526592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ll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04" y="1188720"/>
            <a:ext cx="550259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一鍵建案後的填寫結果清單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宗地條件與買賣實例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比準地 19 欄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面積、寬深、形狀、臨街、地勢、道路、接近條件、嫌惡設施、停車、分區、建蔽容積、禁限建。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比較標的三欄並排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與比準地逐欄對照；可匯入清冊與實例 xlsx，填好再匯入。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實價登錄自動選取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§17 蒐集期間、§19 同區段→同鄉鎮→鄰近鄉鎮；期間外參考案例需理由。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含建物實例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第四號公報成本法推定建物成本：每坪營造施工費 × 坪數 × 定額折舊 × 營造工程物價指數，標需確認。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期日調整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都市地價指數依日期內插；無地籍界線時依門牌定位、可點圖設定。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7962" y="1176720"/>
            <a:ext cx="5440475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put_parc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962" y="1188720"/>
            <a:ext cx="5416475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宗地條件與買賣實例分頁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評價基準明細表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內建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金山商業用地區域／個別因素基準表（逐格核對）、示範住宅用地（非官方）。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匯入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地政局基準表 PDF／CSV／JSON → 自動解析成規則 JSON；細項對回內政部項目目錄。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檢查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超過內政部評價基準表上限只提醒；備註欄條件文字用文法解析。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套用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點名稱看細項與矩陣，「套用至本案」。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7962" y="1176720"/>
            <a:ext cx="5440475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962" y="1188720"/>
            <a:ext cx="5416475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對照檢視：勘查表每格的判定條件與等級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勘查表推定規則（28 欄哪些能推）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① 輸入資料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土地使用管制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都市計畫內外、使用分區、建蔽率容積率（土管要點）、禁限建（預設無）。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交通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主要道路與平均路寬（路網）、大型車站、站牌、交流道、道路闢建程度（計畫道路 × 現況路網）。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自然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排水（淹水潛勢 24h 350mm）、地勢（衛星測高高程）。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設施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市場、公園、觀光、停車場、電業、殯葬、廢棄物、污染源、百貨、金融、娛樂、飯店。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工商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店舖毗連狀態、顧客通行量（OSM 店舖密度）、商圈（清冊圍面）。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停車方便性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交通局路邊停車格 50 m 內，或面前道路寬 ≥ 8 m（系統門檻，非法規）。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7487" y="1176720"/>
            <a:ext cx="4661426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nerated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487" y="1188720"/>
            <a:ext cx="4637426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一鍵建案產出的地價區段勘查表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② 產出書表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規則引擎／六頁書表／三張圖說／地圖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規則引擎：等級 → 修正率 → 價格鏈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勘查表事實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距離、寬度、面積…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92024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優劣等級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基準表判定條件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192024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1208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修正率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矩陣查格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92024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8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小計／總修正數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手冊 p.49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0" y="192024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區域因素調整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帶入比較法調查估價表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個別因素差異率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手冊 p.52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9601200" y="338328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試算價格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辦法 §17、§18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0" y="338328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權重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絕對值加總排名 50/30/20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029200" y="338328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比較價格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手冊 p.53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743200" y="3383280"/>
            <a:ext cx="18288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29260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比準地地價</a:t>
            </a:r>
          </a:p>
          <a:p>
            <a:pPr algn="ctr"/>
            <a:r>
              <a:rPr sz="1000" b="0">
                <a:solidFill>
                  <a:srgbClr val="F2A7D8"/>
                </a:solidFill>
                <a:latin typeface="Microsoft JhengHei"/>
              </a:rPr>
              <a:t>辦法 §21 尾數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35640" y="2377440"/>
            <a:ext cx="0" cy="548640"/>
          </a:xfrm>
          <a:prstGeom prst="line">
            <a:avLst/>
          </a:prstGeom>
          <a:ln w="28575">
            <a:solidFill>
              <a:srgbClr val="F2A7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驗收 1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地政局範本：表 5-2 每個等級、表 4 每個差異率、13.00%、比較價格 212,958 元/m² 全部重現。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驗收 2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作業手冊 p.100–102 官方算例。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不寫死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基準表、上限、量測方式都是 JSON；當天換區、換用地別不改程式。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六頁書表預覽：照範本版面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② 產出書表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頁序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地價區段勘查表、影響地價區域因素分析明細表、比較法調查估價表、地價區段略圖、地價使用分區圖、地價區段圖。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同一份版面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Excel、畫面預覽、PDF 都從同一張工作表格線畫出來。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列印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六頁 PDF，A4 直式與 A3 橫式混排不裁切。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審查標記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可疊上不符與需確認的格位標記。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7487" y="1176720"/>
            <a:ext cx="4661426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nerated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487" y="1188720"/>
            <a:ext cx="4637426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書表預覽第 1 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三張圖說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② 產出書表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地價區段略圖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區段範圍、比準地、比較標的、道路、段籍圖底圖，比例尺 1:1800，估價師簽章欄。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地價使用分區圖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使用分區色塊與區段範圍。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地價區段圖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設施位置與量測路線。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A3 橫式 PNG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進 Excel 圖說工作表與意見書附圖。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304035"/>
            <a:ext cx="6516240" cy="4615689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A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16035"/>
            <a:ext cx="6492240" cy="4591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地價區段略圖（上傳送審書表的案件）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地圖互動檢視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② 產出書表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三張圖切換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區段略圖、使用分區圖、地價區段圖。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點設施看距離線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步行路徑或直線，與書表填載值對照。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接近條件清單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每筆標來源（送審書表抽取／量測）與量測方式。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比較標的位置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沒有地籍界線時可點圖設定。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3589" y="1176720"/>
            <a:ext cx="6029222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_inter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589" y="1188720"/>
            <a:ext cx="600522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地圖互動檢視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③ 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逐項比對／承辦裁決／審查意見書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逐項比對：每一列都有依據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③ 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七個審查重點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i 勘查表 → vii 跨表抄填，對應作業手冊審查重點。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每列欄位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結果、書表、位置、估價單位填載、系統核算、說明、依據、追溯、承辦裁決。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依據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查估辦法條號或手冊頁碼，例如「手冊 p.49 (六)3(3)」。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追溯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「看基準表格位」跳到判定條件與矩陣格位。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分組與篩選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全案／各比較標的；僅不符、僅需確認、僅備註。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5069" y="1176720"/>
            <a:ext cx="4826262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smatch_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069" y="1188720"/>
            <a:ext cx="480226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範例二：5 項不符、1 項需確認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需確認與不符分開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③ 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範本案結果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全部相符＋1 項需確認。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需確認的例子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道路種類最大修正率 8% 超過內政部個別因素評價基準表上限 5%，是範本本身疑點，不判錯。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推定值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系統推定的距離、等級一律只列需確認。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不符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只有估價單位填載值與規則核算值不一致才列不符。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515216"/>
            <a:ext cx="6516240" cy="4193328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iew_confirm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27216"/>
            <a:ext cx="6492240" cy="4169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範例一：需確認列的說明與依據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承辦裁決與操作紀錄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③ 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兩種裁決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接受填載（經審酌採估價單位之值，填理由）、維持不符（請估價單位補正）。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寫進意見書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裁決、理由、裁決人都進意見書逐條意見。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操作紀錄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時間、操作者、動作、內容；建案、重新產生、裁決、匯出全部留痕。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產出過期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輸入改動後產出標「已過期」，裁決對不到新不符項標過期。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4786" y="1176720"/>
            <a:ext cx="6026828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ision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786" y="1188720"/>
            <a:ext cx="6002828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承辦裁決欄與操作紀錄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審查意見書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③ 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結論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相符／需確認／不符請補正後再送審。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核算摘要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各比較標的區域因素調整、個別因素合計、試算價格、權重；比準地比較價格與地價。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逐條意見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[F-001] 書表、格位、填載值、核算值、依據、承辦裁決（裁決人）。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附件與落款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三張圖說；落款用操作身分。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輸出　</a:t>
            </a:r>
            <a:r>
              <a:rPr sz="1400" b="0">
                <a:solidFill>
                  <a:srgbClr val="1F2937"/>
                </a:solidFill>
                <a:latin typeface="Microsoft JhengHei"/>
              </a:rPr>
              <a:t>Word、PDF；語言模型潤飾預設關閉，開啟時守門（標籤齊、沒有新數字，否則退回原句）。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7857" y="1176720"/>
            <a:ext cx="4500685" cy="487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i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57" y="1188720"/>
            <a:ext cx="4476685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範例二的審查意見書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④ 輸出與案件管理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一列多格式／案件生命週期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輸出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④ 輸出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下載全部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一個 zip：書表、意見書、三張圖、清冊、實例。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查估書表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Excel 六張工作表（三表＋三圖）、PDF 照範本頁序。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審查意見書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Word、PDF。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三張圖說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PNG A3。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可再匯入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宗地個別因素清冊、買賣實例 xlsx 填好可再匯入。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1549699"/>
            <a:ext cx="6516240" cy="4124362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61699"/>
            <a:ext cx="6492240" cy="4100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輸出頁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案件生命週期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④ 輸出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4805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狀態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草稿 → 審查中 → 已完成，在案件列切換。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輸入與產出時間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輸入最後修改、產出最後產生；不一致標「產出已過期」，按「重新產生書表」。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重置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清空重填，或回到原始輸入（保留匯入的地籍圖與區段圖）。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另存新案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同一輸入試不同基準表。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500" b="1">
                <a:solidFill>
                  <a:srgbClr val="9A3412"/>
                </a:solidFill>
                <a:latin typeface="Microsoft JhengHei"/>
              </a:rPr>
              <a:t>封存與復原　</a:t>
            </a:r>
            <a:r>
              <a:rPr sz="1500" b="0">
                <a:solidFill>
                  <a:srgbClr val="1F2937"/>
                </a:solidFill>
                <a:latin typeface="Microsoft JhengHei"/>
              </a:rPr>
              <a:t>清單勾「已封存」可復原。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080" y="2147668"/>
            <a:ext cx="6516240" cy="2928423"/>
          </a:xfrm>
          <a:prstGeom prst="rect">
            <a:avLst/>
          </a:prstGeom>
          <a:solidFill>
            <a:srgbClr val="FFFFFF"/>
          </a:solidFill>
          <a:ln w="19050">
            <a:solidFill>
              <a:srgbClr val="E5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59668"/>
            <a:ext cx="6492240" cy="29044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080760"/>
            <a:ext cx="6492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JhengHei"/>
              </a:rPr>
              <a:t>案件清單與狀態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5CE1E6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技術與部署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依「黑客松競賽環境規範與限制」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系統架構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108960" cy="146304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前端 Next.js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書表預覽、地圖（Leaflet）、審查、
輸出；一頁一主鍵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後端 FastAPI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engine 規則引擎／spatial 空間／market 市場
／report 報表／maps 圖說／adapters 匯入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3108960" cy="146304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Amazon Bedrock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只做意見書潤飾與掃描件辨識
（守門檢查；可切 mock）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2103120"/>
            <a:ext cx="731521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2103120"/>
            <a:ext cx="731520" cy="0"/>
          </a:xfrm>
          <a:prstGeom prst="line">
            <a:avLst/>
          </a:prstGeom>
          <a:ln w="28575">
            <a:solidFill>
              <a:srgbClr val="F2A7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29184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本機資料層（不依賴外部 API）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規則 JSON（基準表、上限、量測方式、土管要點、建物成本、物價指數）｜案件 JSON 與操作紀錄｜SQLite R-tree 全區圖資依案件範圍局部載入（路網、步行圖、設施、門牌、分區）｜實價登錄、地價指數、淹水潛勢、地籍圖｜底圖瓦片快取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2834640"/>
            <a:ext cx="0" cy="45720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測試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157 個自動測試：範本驗收、手冊算例、adapter、輸出、API。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隔離不確定性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當天資料格式不明只改 adapter；帳號權限不明只改 deploy。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AWS 部署（依競賽規範）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使用者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評審／承辦瀏覽器
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71600"/>
            <a:ext cx="4937760" cy="118872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EC2 標準型（us-east-1）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Caddy 443 → Next.js 3000 ／ FastAPI 8000（本機）
Security Group 只開 443／80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0A1657"/>
          </a:solidFill>
          <a:ln w="19050">
            <a:solidFill>
              <a:srgbClr val="F2A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Amazon Bedrock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&lt; 1 RPS，只開通用到的模型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965960"/>
            <a:ext cx="731520" cy="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03920" y="1965960"/>
            <a:ext cx="731520" cy="0"/>
          </a:xfrm>
          <a:prstGeom prst="line">
            <a:avLst/>
          </a:prstGeom>
          <a:ln w="28575">
            <a:solidFill>
              <a:srgbClr val="F2A7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9260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4247A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EBS 資料卷約 2 GB</a:t>
            </a:r>
          </a:p>
          <a:p>
            <a:pPr algn="ctr"/>
            <a:r>
              <a:rPr sz="1100" b="0">
                <a:solidFill>
                  <a:srgbClr val="F2A7D8"/>
                </a:solidFill>
                <a:latin typeface="Microsoft JhengHei"/>
              </a:rPr>
              <a:t>圖資、實價登錄、規則、案件；S3 若用只做私有備份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560320"/>
            <a:ext cx="0" cy="365760"/>
          </a:xfrm>
          <a:prstGeom prst="line">
            <a:avLst/>
          </a:prstGeom>
          <a:ln w="28575">
            <a:solidFill>
              <a:srgbClr val="5CE1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區域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us-east-1／us-west-2 指定區域。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執行個體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Standard 系列（規範允許 256 vCPU），不用 GPU、不做模型訓練。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安全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不建立對外全開的 Security Group；不開公開 S3；機密走環境變數與 .gitignore，repo 私有。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資料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不上傳個人資料；實價登錄為去識別化公開資料，操作身分用職稱。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400" b="1">
                <a:solidFill>
                  <a:srgbClr val="9A3412"/>
                </a:solidFill>
                <a:latin typeface="Microsoft JhengHei"/>
              </a:rPr>
              <a:t>時程　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deploy/runbook_ec2.md 30 分鐘從零到可用，不用 docker。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8686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icrosoft JhengHei"/>
              </a:rPr>
              <a:t>限制與後續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45720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3412"/>
                </a:solidFill>
                <a:latin typeface="Microsoft JhengHei"/>
              </a:rPr>
              <a:t>技術與部署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收益法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查估辦法 §14 未實作（實價登錄無收益資料），列人工填寫。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樓層別效用比率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第四號公報無表，區分所有建物由估價師填。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地籍圖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現用匯入圖檔或預載；正式版需國土測繪中心地籍 API（地政局名義申請）。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土管要點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48 個計畫區自動抽取，8 個抓不到表退回施行細則附表一，多表不一致標需人工核對。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推定門檻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勘查表推定規則為系統自訂，待地政局確認後調整。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Microsoft JhengHei"/>
              </a:rPr>
              <a:t>•  </a:t>
            </a:r>
            <a:r>
              <a:rPr sz="1600" b="1">
                <a:solidFill>
                  <a:srgbClr val="9A3412"/>
                </a:solidFill>
                <a:latin typeface="Microsoft JhengHei"/>
              </a:rPr>
              <a:t>底圖　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國土測繪中心瓦片在境外主機的連線需確認；金山一帶已快取可離線。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Demo 與結語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A7D8"/>
                </a:solidFill>
                <a:latin typeface="Microsoft JhengHei"/>
              </a:rPr>
              <a:t>估價單位送來什麼就逐格核算；沒送也能先產一版；每個數字都能點回法源。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E1E6"/>
                </a:solidFill>
                <a:latin typeface="Microsoft JhengHei"/>
              </a:rPr>
              <a:t>場景一　送審書表 → 逐格核算</a:t>
            </a:r>
          </a:p>
        </p:txBody>
      </p:sp>
      <p:pic>
        <p:nvPicPr>
          <p:cNvPr id="6" name="Picture 5" descr="review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61799"/>
            <a:ext cx="3566160" cy="24087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83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2A7D8"/>
                </a:solidFill>
                <a:latin typeface="Microsoft JhengHei"/>
              </a:rPr>
              <a:t>上傳 PDF，10 秒進審查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3736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E1E6"/>
                </a:solidFill>
                <a:latin typeface="Microsoft JhengHei"/>
              </a:rPr>
              <a:t>場景二　填載錯誤 → 裁決 → 意見書</a:t>
            </a:r>
          </a:p>
        </p:txBody>
      </p:sp>
      <p:pic>
        <p:nvPicPr>
          <p:cNvPr id="9" name="Picture 8" descr="opin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934" y="2194560"/>
            <a:ext cx="2533972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4983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2A7D8"/>
                </a:solidFill>
                <a:latin typeface="Microsoft JhengHei"/>
              </a:rPr>
              <a:t>5 項不符，承辦裁決寫進意見書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E1E6"/>
                </a:solidFill>
                <a:latin typeface="Microsoft JhengHei"/>
              </a:rPr>
              <a:t>場景三　地號 → 一鍵產出</a:t>
            </a:r>
          </a:p>
        </p:txBody>
      </p:sp>
      <p:pic>
        <p:nvPicPr>
          <p:cNvPr id="12" name="Picture 11" descr="fill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342" y="2194560"/>
            <a:ext cx="3114675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983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2A7D8"/>
                </a:solidFill>
                <a:latin typeface="Microsoft JhengHei"/>
              </a:rPr>
              <a:t>30 秒產出勘查表與比較標的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08615" y="5349240"/>
            <a:ext cx="10972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depl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335" y="5394960"/>
            <a:ext cx="100584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08415" y="571500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CE1E6"/>
                </a:solidFill>
                <a:latin typeface="Microsoft JhengHei"/>
              </a:rPr>
              <a:t>掃描開啟系統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</a:rPr>
              <a:t>隊名 AI城市起風　吳昭奇・洪湛閎・丁家麒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AI 輔助不動產估價案件審查　｜　AI城市起風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E1E6"/>
                </a:solidFill>
                <a:latin typeface="Microsoft JhengHe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