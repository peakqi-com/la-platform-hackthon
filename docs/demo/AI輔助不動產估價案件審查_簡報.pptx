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60" r:id="rId12"/>
    <p:sldId id="275" r:id="rId27"/>
    <p:sldId id="292" r:id="rId44"/>
    <p:sldId id="293" r:id="rId45"/>
    <p:sldId id="294" r:id="rId46"/>
    <p:sldId id="289" r:id="rId41"/>
    <p:sldId id="291" r:id="rId43"/>
    <p:sldId id="295" r:id="rId47"/>
    <p:sldId id="259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**動作**：指左上角引用的命題原句。</a:t>
            </a:r>
          </a:p>
          <a:p/>
          <a:p>
            <a:r>
              <a:t>**口白**</a:t>
            </a:r>
          </a:p>
          <a:p>
            <a:r>
              <a:t>「命題文件寫得很清楚：審查人員要人工比對地價區段勘查表、影響地價區域因素分析明細表、比較法調查估價表，逐項核算距離、級距、修正率和加總。痛點有三個：表單多，容易漏；基準表依用地別不同，判讀難一致；修正率加總和跨表抄填，容易算錯、抄錯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**口白**</a:t>
            </a:r>
          </a:p>
          <a:p>
            <a:r>
              <a:t>「我們守四個原則。第一，數字只由規則引擎計算，語言模型不碰數字。第二，每條算式都對回查估辦法條號或作業手冊頁碼。第三，系統推定的值只標『需確認』，不判估價師錯。第四，圖資和資料都放在主機上，不依賴外部服務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**口白**</a:t>
            </a:r>
          </a:p>
          <a:p>
            <a:r>
              <a:t>「各位評審好，我是 AI城市起風的吳昭奇。我們回應的是地政局的命題：AI 輔助不動產估價案件審查。」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**動作**：由左到右指四個步驟框。</a:t>
            </a:r>
          </a:p>
          <a:p/>
          <a:p>
            <a:r>
              <a:t>**口白**</a:t>
            </a:r>
          </a:p>
          <a:p>
            <a:r>
              <a:t>「我們把『勘查表事實、優劣等級、修正率、加總、跨表抄填』整條鏈交給系統。估價單位送來書表，系統逐格重算、指出哪一格不一致，並附上依據；還沒有書表，只給地號也能先產一版。流程就是輸入、產出、審查、輸出四步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**動作**：沿著方框從左上指到左下。</a:t>
            </a:r>
          </a:p>
          <a:p/>
          <a:p>
            <a:r>
              <a:t>**口白**</a:t>
            </a:r>
          </a:p>
          <a:p>
            <a:r>
              <a:t>「這是價格鏈：從等級、修正率、總修正數，到試算價格、權重、比較價格。我們先用地政局的範本案驗收，每一個等級、每一個差異率，一直到比較價格每平方公尺 212,958 元，全部重現。」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**口白**</a:t>
            </a:r>
          </a:p>
          <a:p>
            <a:r>
              <a:t>「接下來直接示範決賽題目。題目給四張勘查表、表5-1、表4 和評價基準明細表，表4 的個別因素全部空白。我們只上傳兩個檔，系統會跑完這八個步驟。」</a:t>
            </a:r>
          </a:p>
          <a:p/>
          <a:p>
            <a:r>
              <a:t>**動作**：切到瀏覽器。</a:t>
            </a:r>
          </a:p>
          <a:p/>
          <a:p>
            <a:r>
              <a:t>#### 示範一　① 輸入資料（2:05–2:25）</a:t>
            </a:r>
          </a:p>
          <a:p/>
          <a:p>
            <a:r>
              <a:t>**動作**：在「案件與地價區段」分頁，指「輸入檔（2）」底下題目 PDF 的說明文字。</a:t>
            </a:r>
          </a:p>
          <a:p/>
          <a:p>
            <a:r>
              <a:t>**口白**</a:t>
            </a:r>
          </a:p>
          <a:p>
            <a:r>
              <a:t>「這是部署在 AWS 的正式站。開場前我已經把兩個檔丟進去，大約一分鐘就建好。這裡看得到系統讀到六頁：四張勘查表、表5-1、表4；比準地和三筆比較標的的界線，用開放地籍查詢抓到；四個區段依四至文字自動圍出來。」</a:t>
            </a:r>
          </a:p>
          <a:p/>
          <a:p>
            <a:r>
              <a:t>#### 示範二　② 產出書表（2:25–3:05）</a:t>
            </a:r>
          </a:p>
          <a:p/>
          <a:p>
            <a:r>
              <a:t>**動作**：切到「② 產出書表」，停在第 2 頁勘查表 P002-00；往下捲到第 5 頁表5-1；再到第 6 頁表4。</a:t>
            </a:r>
          </a:p>
          <a:p/>
          <a:p>
            <a:r>
              <a:t>**口白**</a:t>
            </a:r>
          </a:p>
          <a:p>
            <a:r>
              <a:t>「② 產出書表。勘查表每個區段一頁，這是 P002-00：主要道路樹人街 7 米、容積率 200%，是題目原值，其他欄位由圖資推算。表5-1 的備註寫使用分區、建蔽率、容積率併同表4 考量，系統讀懂備註，把這三項設成免修正，總修正數 18%、14.75%、6.75%。表4 原本空白的個別因素，第 7 到 25 項全部填好：面積、寬深用地籍界線算，接近條件用步行路網量。」</a:t>
            </a:r>
          </a:p>
          <a:p/>
          <a:p>
            <a:r>
              <a:t>#### 示範三　③ 審查（3:05–3:35）</a:t>
            </a:r>
          </a:p>
          <a:p/>
          <a:p>
            <a:r>
              <a:t>**動作**：切到「③ 審查」，指上方「全部相符、2 項需確認、3 項備註」，再指比較價格那一行。</a:t>
            </a:r>
          </a:p>
          <a:p/>
          <a:p>
            <a:r>
              <a:t>**口白**</a:t>
            </a:r>
          </a:p>
          <a:p>
            <a:r>
              <a:t>「③ 審查。不符 0 項、需確認 2 項、備註 3 項。備註是三筆交易日期都在原則蒐集期間外，但題目全案備註已經依查估辦法第 17 條第 3 項敘明理由，所以只列備註，不要求補正。比準地比較價格每平方公尺 131,529 元。需確認的兩項是容積率，等一下說明。」</a:t>
            </a:r>
          </a:p>
          <a:p/>
          <a:p>
            <a:r>
              <a:t>#### 示範四　④ 輸出（3:35–4:00）</a:t>
            </a:r>
          </a:p>
          <a:p/>
          <a:p>
            <a:r>
              <a:t>**動作**：切到「④ 輸出」，指「地政局正式範本書表」那一列的四個下載鈕。</a:t>
            </a:r>
          </a:p>
          <a:p/>
          <a:p>
            <a:r>
              <a:t>**口白**</a:t>
            </a:r>
          </a:p>
          <a:p>
            <a:r>
              <a:t>「④ 輸出。系統版書表、審查意見書、三張圖說之外，也可以直接下載地政局正式範本：勘查表每個區段一張、影響地價區域因素分析明細表、比較法調查估價表，數值寫進範本原本的格位，格式完全不動。」</a:t>
            </a:r>
          </a:p>
          <a:p/>
          <a:p>
            <a:r>
              <a:t>**動作**：切回簡報第 7 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**口白**</a:t>
            </a:r>
          </a:p>
          <a:p>
            <a:r>
              <a:t>「回到簡報，這頁是剛才的結果：區域因素 18%、14.75%、6.75%，個別因素合計負 15.75、負 23.25、負 26.25，權重 30、50、20，比準地比較價格每平方公尺 131,529 元。」</a:t>
            </a:r>
          </a:p>
          <a:p/>
          <a:p>
            <a:r>
              <a:t>**備援口白**（沒有示範時改念這段，約 40 秒）</a:t>
            </a:r>
          </a:p>
          <a:p>
            <a:r>
              <a:t>「上傳題目和評價基準明細表兩個檔，大約一分鐘，四張勘查表、表5-1、表4 全部填好。左邊是 P002-00 勘查表，右邊是表4，原本空白的個別因素第 7 到 25 項都有值。表5-1 備註寫使用分區、建蔽率、容積率併同表4 考量，系統自動設成免修正。區域因素 18%、14.75%、6.75%，權重 30、50、20，比準地比較價格每平方公尺 131,529 元。審查結果不符 0 項、需確認 2 項。」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**動作**：先指上方第一點，再依序指下方三張圖。</a:t>
            </a:r>
          </a:p>
          <a:p/>
          <a:p>
            <a:r>
              <a:t>**口白**</a:t>
            </a:r>
          </a:p>
          <a:p>
            <a:r>
              <a:t>「這是系統在題目裡抓到的問題。題目勘查表的容積率，P002-00 填 200%，其他三區填 260%。我們核對兩版土管要點：第一種住宅區是 260%，但面臨計畫道路未達 8 公尺，或依現有巷道建築的，上限 200%。系統用都市計畫圖量臨路寬度：樹人街 7.3 米、潭興街 7.0 米，太平段那筆只臨現有巷道。三筆都適用但書，所以 P002-00 的 200% 吻合；P003、P004 和宗地不一致，系統列需確認，交給承辦判斷。」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**口白**</a:t>
            </a:r>
          </a:p>
          <a:p>
            <a:r>
              <a:t>「部署完全照競賽規範：AWS us-west-2 一台標準型 EC2，Caddy 提供 HTTPS，安全群組對外只開 443 和 80，SSH 只開給單一 IP。語言模型用 Amazon Bedrock，每秒不到一次請求，只用在意見書潤飾和掃描件辨識，不碰數字。（可省：程式推上 GitHub 主線，主機一分鐘內自動更新，健康檢查失敗會自動回滾。）」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**動作**：最後一句時指右下角 QR code。</a:t>
            </a:r>
          </a:p>
          <a:p/>
          <a:p>
            <a:r>
              <a:t>**口白**</a:t>
            </a:r>
          </a:p>
          <a:p>
            <a:r>
              <a:t>「最後一句話：估價單位送來什麼，系統就逐格核算；還沒送，給地號也能先產一版；每個數字都能點回法源。右下角的 QR code 可以直接打開系統。謝謝各位，請評審指教。」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附錄：統問統答時依題目翻閱。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3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3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3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3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3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notesSlide" Target="../notesSlides/notesSlide1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v_16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617720"/>
            <a:ext cx="12191695" cy="2240280"/>
          </a:xfrm>
          <a:prstGeom prst="rect">
            <a:avLst/>
          </a:prstGeom>
          <a:solidFill>
            <a:srgbClr val="060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709160"/>
            <a:ext cx="86868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Microsoft JhengHei"/>
              </a:rPr>
              <a:t>AI 輔助不動產估價案件審查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40680"/>
            <a:ext cx="8686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5CE1E6"/>
                </a:solidFill>
                <a:latin typeface="Microsoft JhengHei"/>
              </a:rPr>
              <a:t>土地徵收補償市價查估・估價案件審查輔助系統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8686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2A7D8"/>
                </a:solidFill>
                <a:latin typeface="Microsoft JhengHei"/>
              </a:rPr>
              <a:t>新北市政府地政局命題　｜　2026 新北市 AI 智慧城市黑客松競賽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85455" y="480060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隊名　AI城市起風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5455" y="539496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>
                <a:solidFill>
                  <a:srgbClr val="5CE1E6"/>
                </a:solidFill>
                <a:latin typeface="Microsoft JhengHei"/>
              </a:rPr>
              <a:t>吳昭奇　洪湛閎　丁家麒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現況與痛點（引自地政局命題文件）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為什麼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6583680" cy="1828800"/>
          </a:xfrm>
          <a:prstGeom prst="rect">
            <a:avLst/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630936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A3412"/>
                </a:solidFill>
                <a:latin typeface="Microsoft JhengHei"/>
              </a:rPr>
              <a:t>「審查人員須人工比對多張表單（如地價區段勘查表、影響地價區域因素分析明細表、比較法調查估價表），逐項核算距離、級距、修正率與加總結果，不僅作業時間長，且容易因人工判讀或抄填錯誤影響審查品質。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6583680" cy="2926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痛點 1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估價書表涉及表單眾多，人工逐項比對耗時且易發生疏漏。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痛點 2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區域因素與個別因素需依不同用地類別基準明細表判定，人工判讀一致性不易維持。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痛點 3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修正率加總及跨表抄填（如區域因素總修正數）容易出現計算或填載錯誤。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預期成果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透過 AI 輔助完成估價書填寫流程；降低人工審查時間與錯誤率，提升效率與一致性。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394640" y="1180538"/>
            <a:ext cx="2218560" cy="3125323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mplate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192538"/>
            <a:ext cx="2194560" cy="310132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680640" y="1954742"/>
            <a:ext cx="2218560" cy="1576915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emplate_p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1966742"/>
            <a:ext cx="2194560" cy="155291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020961" y="4422840"/>
            <a:ext cx="1251917" cy="176136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roblem_stat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2961" y="4434840"/>
            <a:ext cx="1227917" cy="1737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06640" y="4206240"/>
            <a:ext cx="44805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上：查估書表範本第 1、3 頁　下：命題文件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7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我們做什麼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F2A7D8"/>
                </a:solidFill>
                <a:latin typeface="Microsoft JhengHei"/>
              </a:rPr>
              <a:t>把「勘查表事實 → 優劣等級 → 修正率 → 加總 → 跨表抄填」這條鏈自動化，並反向審查：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F2A7D8"/>
                </a:solidFill>
                <a:latin typeface="Microsoft JhengHei"/>
              </a:rPr>
              <a:t>比對估價師填的表與規則算出的表，逐條指出不一致並引用依據。沒有書表時，只給地號也能先產出一版。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926080"/>
            <a:ext cx="2514600" cy="173736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① 輸入資料</a:t>
            </a:r>
          </a:p>
          <a:p>
            <a:pPr algn="ctr"/>
            <a:r>
              <a:rPr sz="1300" b="0">
                <a:solidFill>
                  <a:srgbClr val="F2A7D8"/>
                </a:solidFill>
                <a:latin typeface="Microsoft JhengHei"/>
              </a:rPr>
              <a:t>送審書表 PDF／年期與地號
／評價基準明細表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54680" y="3794760"/>
            <a:ext cx="32004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474720" y="2926080"/>
            <a:ext cx="2514600" cy="173736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② 產出書表</a:t>
            </a:r>
          </a:p>
          <a:p>
            <a:pPr algn="ctr"/>
            <a:r>
              <a:rPr sz="1300" b="0">
                <a:solidFill>
                  <a:srgbClr val="F2A7D8"/>
                </a:solidFill>
                <a:latin typeface="Microsoft JhengHei"/>
              </a:rPr>
              <a:t>依基準表判等級、修正率
與價格鏈，重算三表三圖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989320" y="3794760"/>
            <a:ext cx="32004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309360" y="2926080"/>
            <a:ext cx="2514600" cy="173736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③ 審查</a:t>
            </a:r>
          </a:p>
          <a:p>
            <a:pPr algn="ctr"/>
            <a:r>
              <a:rPr sz="1300" b="0">
                <a:solidFill>
                  <a:srgbClr val="F2A7D8"/>
                </a:solidFill>
                <a:latin typeface="Microsoft JhengHei"/>
              </a:rPr>
              <a:t>逐格比對填載值與核算值
標出不符與依據，承辦裁決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823960" y="3794760"/>
            <a:ext cx="32004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144000" y="2926080"/>
            <a:ext cx="2514600" cy="173736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④ 輸出</a:t>
            </a:r>
          </a:p>
          <a:p>
            <a:pPr algn="ctr"/>
            <a:r>
              <a:rPr sz="1300" b="0">
                <a:solidFill>
                  <a:srgbClr val="F2A7D8"/>
                </a:solidFill>
                <a:latin typeface="Microsoft JhengHei"/>
              </a:rPr>
              <a:t>書表 Excel／PDF、意見書
Word／PDF、三張圖說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120640"/>
            <a:ext cx="3474720" cy="914400"/>
          </a:xfrm>
          <a:prstGeom prst="roundRect">
            <a:avLst>
              <a:gd name="adj" fmla="val 12000"/>
            </a:avLst>
          </a:prstGeom>
          <a:solidFill>
            <a:srgbClr val="0A1657"/>
          </a:solidFill>
          <a:ln w="19050">
            <a:solidFill>
              <a:srgbClr val="F2A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入口：送審書表 PDF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估價單位送來的六頁書表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5120640"/>
            <a:ext cx="3474720" cy="914400"/>
          </a:xfrm>
          <a:prstGeom prst="roundRect">
            <a:avLst>
              <a:gd name="adj" fmla="val 12000"/>
            </a:avLst>
          </a:prstGeom>
          <a:solidFill>
            <a:srgbClr val="0A1657"/>
          </a:solidFill>
          <a:ln w="19050">
            <a:solidFill>
              <a:srgbClr val="F2A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入口：範例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相符／填載錯誤／僅勘查表／決賽題目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5120640"/>
            <a:ext cx="3474720" cy="914400"/>
          </a:xfrm>
          <a:prstGeom prst="roundRect">
            <a:avLst>
              <a:gd name="adj" fmla="val 12000"/>
            </a:avLst>
          </a:prstGeom>
          <a:solidFill>
            <a:srgbClr val="0A1657"/>
          </a:solidFill>
          <a:ln w="19050">
            <a:solidFill>
              <a:srgbClr val="F2A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入口：年期＋地號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沒有書表時一鍵產出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6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42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>
                <a:solidFill>
                  <a:srgbClr val="5CE1E6"/>
                </a:solidFill>
                <a:latin typeface="Microsoft Jheng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Microsoft JhengHei"/>
              </a:rPr>
              <a:t>設計原則與資料基礎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2A7D8"/>
                </a:solidFill>
                <a:latin typeface="Microsoft JhengHei"/>
              </a:rPr>
              <a:t>數字可追溯、推定不判錯、資料在本機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8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四個不可違反的原則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設計原則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① 規則引擎確定性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每一個等級與修正率都指回基準表 JSON 的某一格；語言模型不碰數字。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② 算式對回法源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每條算式對回土地徵收補償市價查估辦法條號、作業手冊印刷頁碼（docs/07 對照表）。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③ 推定只標「需確認」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圖資推定值與範本本身疑點一律「需確認」，不判錯；估價師填值優先。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④ 資料在本機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路網、設施、分區、實價登錄、指數全部預先下載，不依賴外部 API；底圖瓦片有快取。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200080" y="1777497"/>
            <a:ext cx="6516240" cy="3668766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ule_c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789497"/>
            <a:ext cx="6492240" cy="364476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評價基準明細表判定條件與修正矩陣格位：每個修正率都能點回這裡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法規與規則來源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設計原則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查估辦法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土地徵收補償市價查估辦法 §5、§7、§13、§17、§18、§19、§20、§21。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作業手冊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土地徵收補償市價查估作業手冊，頁碼校正到印刷頁；p.100–102 官方算例當第二組驗收。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技術規則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不動產估價技術規則為一般規定，與查估辦法衝突時依查估辦法（§25、§26、§27、§48–§67、§98、§100 已對照）。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第四號公報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估價師公會全聯會第四號公報 113.12.11：建物成本、耐用年數、殘價率。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基準表與上限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評價基準明細表是資料不是程式，換區換用地別只換 JSON；內政部評價基準表上限只提醒。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建蔽率容積率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施行細則附表一、附表三＋各計畫區土管要點自動抽取（48 個計畫區）。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43589" y="1176720"/>
            <a:ext cx="6029222" cy="487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nput_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589" y="1188720"/>
            <a:ext cx="6005222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評價基準明細表分頁：匯入地政局 PDF 自動解析成規則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圖資與開放資料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設計原則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底圖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國土測繪中心通用版電子地圖與段籍圖（瓦片快取，金山一帶離線可用）。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路網與設施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OpenStreetMap 全新北市路網、步行圖、95,696 筆設施、367 萬筆門牌。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分區與地籍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城鄉局都市計畫使用分區；地籍圖匯入圖檔或預載。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市場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內政部實價登錄、都市地價指數、新北市營造工程物價指數。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環境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水利署淹水潛勢、環境部列管污染源、經濟部商圈、交通局路邊停車格、高公局交流道、中油加油站。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每筆距離帶來源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資料集名稱、量測方式（步行／直線）、起點約定，畫面與書表都看得到。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43589" y="1176720"/>
            <a:ext cx="6029222" cy="487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p_intera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589" y="1188720"/>
            <a:ext cx="6005222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地圖互動檢視：右側每筆接近條件標來源與量測方式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42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>
                <a:solidFill>
                  <a:srgbClr val="5CE1E6"/>
                </a:solidFill>
                <a:latin typeface="Microsoft Jheng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Microsoft JhengHei"/>
              </a:rPr>
              <a:t>案件總覽與三種入口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2A7D8"/>
                </a:solidFill>
                <a:latin typeface="Microsoft JhengHei"/>
              </a:rPr>
              <a:t>送審書表 PDF／年期與地號／範例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8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案件總覽：承辦的儀表板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案件總覽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五個數字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全部案件、審查中、待處理不符項、產出已過期、已完成。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兩張入口卡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審查送審書表（拖 PDF）、一鍵建案（依地號產生書表）。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案件清單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審查結果、比較價格、產出是否最新、最後操作、依狀態給「下一步」按鈕。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封存取代刪除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資料與紀錄都保留，可復原。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操作身分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左下填姓名與角色，寫進操作紀錄與意見書落款。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200080" y="1345630"/>
            <a:ext cx="6516240" cy="453250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ome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357630"/>
            <a:ext cx="6492240" cy="4508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案件總覽首頁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入口 A：上傳送審書表 PDF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案件總覽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拖進六頁 PDF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文字層直接讀取；掃描件走影像辨識。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先預覽再建案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每頁辨識到哪一表、案號、比準地、比較標的件數、缺漏欄位、低信心欄位、提醒。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建立案件並開始審查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建案同時補地籍界線與區段範圍，直接進審查頁。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範本實測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六頁範本文字層還原 99%，缺漏 0、低信心 0。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200080" y="2508823"/>
            <a:ext cx="6516240" cy="2206114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port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2520823"/>
            <a:ext cx="6492240" cy="218211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辨識結果預覽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入口 B：一鍵建案（依地號產生書表）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案件總覽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只填五格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案號、估價基準日、鄉鎮市區、比準地地號、用地別。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約 30 秒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地籍界線 → 宗地屬性推定 → 區段範圍（路網推估街廓）→ 勘查表 28 欄 → 設施距離 → 實價登錄比較標的 3 件。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沒有地號也行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填區段範圍文字，系統圍出區段並依 §18 選比準地。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估價師從「改」開始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推定值全部標示，不是從空白填起。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200080" y="1453252"/>
            <a:ext cx="6516240" cy="4317255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onekey_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465252"/>
            <a:ext cx="6492240" cy="429325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一鍵建案表單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入口 C：範例與其他可上傳的資料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案件總覽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範例一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金山區 P002-00 地價區段，送審書表填載與系統核算相符。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範例二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同一案但含填載錯誤：看不符項、承辦裁決與意見書。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範例三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僅有年期、區段編號、區段範圍的勘查表，由圖資推算其餘欄位。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範例四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樹林區普通住宅用地（決賽題目）：四個區段、三筆比較標的，可輸出地政局正式範本。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還能上傳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宗地個別因素清冊 xlsx、買賣實例 xlsx、評價基準明細表 PDF／CSV／JSON、地籍圖（GeoJSON／KML／GML／SHP zip）、地價區段圖。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匯入規則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依地號併入、只覆蓋有值欄位、對不到的回報。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200080" y="2147668"/>
            <a:ext cx="6516240" cy="2928423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ome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2159668"/>
            <a:ext cx="6492240" cy="290442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案件清單：狀態、審查結果、比較價格、產出、最後操作、下一步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42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>
                <a:solidFill>
                  <a:srgbClr val="5CE1E6"/>
                </a:solidFill>
                <a:latin typeface="Microsoft Jheng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Microsoft JhengHei"/>
              </a:rPr>
              <a:t>① 輸入資料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2A7D8"/>
                </a:solidFill>
                <a:latin typeface="Microsoft JhengHei"/>
              </a:rPr>
              <a:t>案件與地價區段／宗地條件與買賣實例／評價基準明細表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8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案件與地價區段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① 輸入資料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案件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案號、基準日、估價師簽章欄、填寫日期、比準地地號、用地別、適用基準表。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地價區段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區段編號、範圍文字、勘查日期；範圍多邊形與比準地位置。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位置與設施距離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匯入地價區段圖、匯入地籍圖、補上送審書表 PDF、重新量測設施距離。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替代方式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沒有圖檔時：點圖推估街廓、人工標定設施，結果標示為草稿。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依地號產生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可選擇是否覆寫已填值。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181936" y="1176720"/>
            <a:ext cx="4552528" cy="487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nput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3936" y="1188720"/>
            <a:ext cx="4528528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案件與地價區段分頁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填寫結果清單：每個欄位從哪裡來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① 輸入資料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四種狀態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資料（匯入或填載）、量測（圖資量出）、推定（系統規則）、空白（需人工填載）。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來源與說明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每列寫資料集名稱與推定理由，例如「最小外接矩形與面前道路平行之邊」。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一眼看缺什麼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頂端統計：資料 4、量測 39、推定 52、空白 12。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推定門檻公開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全部寫在 docs/07，讓人能質疑。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94904" y="1176720"/>
            <a:ext cx="5526592" cy="487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ll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6904" y="1188720"/>
            <a:ext cx="5502592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一鍵建案後的填寫結果清單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宗地條件與買賣實例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① 輸入資料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比準地 19 欄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面積、寬深、形狀、臨街、地勢、道路、接近條件、嫌惡設施、停車、分區、建蔽容積、禁限建。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比較標的三欄並排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與比準地逐欄對照；可匯入清冊與實例 xlsx，填好再匯入。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實價登錄自動選取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§17 蒐集期間、§19 同區段→同鄉鎮→鄰近鄉鎮；期間外參考案例需理由。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含建物實例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第四號公報成本法推定建物成本：每坪營造施工費 × 坪數 × 定額折舊 × 營造工程物價指數，標需確認。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期日調整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都市地價指數依日期內插；無地籍界線時依門牌定位、可點圖設定。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737962" y="1176720"/>
            <a:ext cx="5440475" cy="487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nput_parc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9962" y="1188720"/>
            <a:ext cx="5416475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宗地條件與買賣實例分頁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評價基準明細表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① 輸入資料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內建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金山商業用地區域／個別因素基準表（逐格核對）、示範住宅用地（非官方）。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匯入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地政局基準表 PDF／CSV／JSON → 自動解析成規則 JSON；細項對回內政部項目目錄。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檢查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超過內政部評價基準表上限只提醒；備註欄條件文字用文法解析。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套用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點名稱看細項與矩陣，「套用至本案」。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737962" y="1176720"/>
            <a:ext cx="5440475" cy="487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ble1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9962" y="1188720"/>
            <a:ext cx="5416475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對照檢視：勘查表每格的判定條件與等級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勘查表推定規則（28 欄哪些能推）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① 輸入資料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土地使用管制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都市計畫內外、使用分區、建蔽率容積率（土管要點＋但書：面臨計畫道路未達 8 m 或現有巷道者住一、住二 200%，路寬以都市計畫圖道路用地量測）、禁限建（預設無）。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交通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主要道路與平均路寬（路網）、大型車站、站牌、交流道、道路闢建程度（計畫道路 × 現況路網）。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自然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排水（淹水潛勢 24h 350mm）、地勢（衛星測高高程）。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設施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市場、公園、觀光、停車場、電業、殯葬、廢棄物、污染源、百貨、金融、娛樂、飯店。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工商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店舖毗連狀態、顧客通行量（OSM 店舖密度）、商圈（清冊圍面）。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停車方便性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交通局路邊停車格 50 m 內，或面前道路寬 ≥ 8 m（系統門檻，非法規）。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7487" y="1176720"/>
            <a:ext cx="4661426" cy="487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enerated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9487" y="1188720"/>
            <a:ext cx="4637426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一鍵建案產出的地價區段勘查表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42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>
                <a:solidFill>
                  <a:srgbClr val="5CE1E6"/>
                </a:solidFill>
                <a:latin typeface="Microsoft JhengHe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Microsoft JhengHei"/>
              </a:rPr>
              <a:t>② 產出書表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2A7D8"/>
                </a:solidFill>
                <a:latin typeface="Microsoft JhengHei"/>
              </a:rPr>
              <a:t>規則引擎／書表預覽／三張圖說／地圖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8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規則引擎：等級 → 修正率 → 價格鏈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勘查表事實</a:t>
            </a:r>
          </a:p>
          <a:p>
            <a:pPr algn="ctr"/>
            <a:r>
              <a:rPr sz="1000" b="0">
                <a:solidFill>
                  <a:srgbClr val="F2A7D8"/>
                </a:solidFill>
                <a:latin typeface="Microsoft JhengHei"/>
              </a:rPr>
              <a:t>距離、寬度、面積…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743200" y="1920240"/>
            <a:ext cx="18288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926080" y="146304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優劣等級</a:t>
            </a:r>
          </a:p>
          <a:p>
            <a:pPr algn="ctr"/>
            <a:r>
              <a:rPr sz="1000" b="0">
                <a:solidFill>
                  <a:srgbClr val="F2A7D8"/>
                </a:solidFill>
                <a:latin typeface="Microsoft JhengHei"/>
              </a:rPr>
              <a:t>基準表判定條件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0" y="1920240"/>
            <a:ext cx="18288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212080" y="146304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修正率</a:t>
            </a:r>
          </a:p>
          <a:p>
            <a:pPr algn="ctr"/>
            <a:r>
              <a:rPr sz="1000" b="0">
                <a:solidFill>
                  <a:srgbClr val="F2A7D8"/>
                </a:solidFill>
                <a:latin typeface="Microsoft JhengHei"/>
              </a:rPr>
              <a:t>矩陣查格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0" y="1920240"/>
            <a:ext cx="18288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98080" y="146304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小計／總修正數</a:t>
            </a:r>
          </a:p>
          <a:p>
            <a:pPr algn="ctr"/>
            <a:r>
              <a:rPr sz="1000" b="0">
                <a:solidFill>
                  <a:srgbClr val="F2A7D8"/>
                </a:solidFill>
                <a:latin typeface="Microsoft JhengHei"/>
              </a:rPr>
              <a:t>手冊 p.49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601200" y="1920240"/>
            <a:ext cx="18288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784080" y="146304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區域因素調整</a:t>
            </a:r>
          </a:p>
          <a:p>
            <a:pPr algn="ctr"/>
            <a:r>
              <a:rPr sz="1000" b="0">
                <a:solidFill>
                  <a:srgbClr val="F2A7D8"/>
                </a:solidFill>
                <a:latin typeface="Microsoft JhengHei"/>
              </a:rPr>
              <a:t>帶入比較法調查估價表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784080" y="292608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個別因素差異率</a:t>
            </a:r>
          </a:p>
          <a:p>
            <a:pPr algn="ctr"/>
            <a:r>
              <a:rPr sz="1000" b="0">
                <a:solidFill>
                  <a:srgbClr val="F2A7D8"/>
                </a:solidFill>
                <a:latin typeface="Microsoft JhengHei"/>
              </a:rPr>
              <a:t>手冊 p.52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9601200" y="3383280"/>
            <a:ext cx="18288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498080" y="292608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試算價格</a:t>
            </a:r>
          </a:p>
          <a:p>
            <a:pPr algn="ctr"/>
            <a:r>
              <a:rPr sz="1000" b="0">
                <a:solidFill>
                  <a:srgbClr val="F2A7D8"/>
                </a:solidFill>
                <a:latin typeface="Microsoft JhengHei"/>
              </a:rPr>
              <a:t>辦法 §17、§18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7315200" y="3383280"/>
            <a:ext cx="18288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212080" y="292608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權重</a:t>
            </a:r>
          </a:p>
          <a:p>
            <a:pPr algn="ctr"/>
            <a:r>
              <a:rPr sz="1000" b="0">
                <a:solidFill>
                  <a:srgbClr val="F2A7D8"/>
                </a:solidFill>
                <a:latin typeface="Microsoft JhengHei"/>
              </a:rPr>
              <a:t>絕對值加總排名 50/30/20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029200" y="3383280"/>
            <a:ext cx="18288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926080" y="292608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比較價格</a:t>
            </a:r>
          </a:p>
          <a:p>
            <a:pPr algn="ctr"/>
            <a:r>
              <a:rPr sz="1000" b="0">
                <a:solidFill>
                  <a:srgbClr val="F2A7D8"/>
                </a:solidFill>
                <a:latin typeface="Microsoft JhengHei"/>
              </a:rPr>
              <a:t>手冊 p.53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2743200" y="3383280"/>
            <a:ext cx="18288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40080" y="292608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比準地地價</a:t>
            </a:r>
          </a:p>
          <a:p>
            <a:pPr algn="ctr"/>
            <a:r>
              <a:rPr sz="1000" b="0">
                <a:solidFill>
                  <a:srgbClr val="F2A7D8"/>
                </a:solidFill>
                <a:latin typeface="Microsoft JhengHei"/>
              </a:rPr>
              <a:t>辦法 §21 尾數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835640" y="2377440"/>
            <a:ext cx="0" cy="548640"/>
          </a:xfrm>
          <a:prstGeom prst="line">
            <a:avLst/>
          </a:prstGeom>
          <a:ln w="28575">
            <a:solidFill>
              <a:srgbClr val="F2A7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4206240"/>
            <a:ext cx="10972800" cy="2103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驗收 1　</a:t>
            </a:r>
            <a:r>
              <a:rPr sz="1400" b="0">
                <a:solidFill>
                  <a:srgbClr val="FFFFFF"/>
                </a:solidFill>
                <a:latin typeface="Microsoft JhengHei"/>
              </a:rPr>
              <a:t>地政局範本：表 5-2 每個等級、表 4 每個差異率、13.00%、比較價格 212,958 元/m² 全部重現。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驗收 2　</a:t>
            </a:r>
            <a:r>
              <a:rPr sz="1400" b="0">
                <a:solidFill>
                  <a:srgbClr val="FFFFFF"/>
                </a:solidFill>
                <a:latin typeface="Microsoft JhengHei"/>
              </a:rPr>
              <a:t>作業手冊 p.100–102 官方算例。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不寫死　</a:t>
            </a:r>
            <a:r>
              <a:rPr sz="1400" b="0">
                <a:solidFill>
                  <a:srgbClr val="FFFFFF"/>
                </a:solidFill>
                <a:latin typeface="Microsoft JhengHei"/>
              </a:rPr>
              <a:t>基準表、上限、量測方式都是 JSON；當天換區、換用地別不改程式。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25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書表預覽：照範本版面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② 產出書表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頁序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各區段地價區段勘查表（每區段一頁）、影響地價區域因素分析明細表、比較法調查估價表、三張圖說；範本案 6 頁、決賽題目 9 頁。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同一份版面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Excel、畫面預覽、PDF 都從同一張工作表格線畫出來。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列印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整份 PDF，A4 直式與 A3 橫式混排不裁切。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審查標記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可疊上不符與需確認的格位標記。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7487" y="1176720"/>
            <a:ext cx="4661426" cy="487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enerated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9487" y="1188720"/>
            <a:ext cx="4637426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書表預覽第 1 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三張圖說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② 產出書表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地價區段略圖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區段範圍、比準地、比較標的、道路、段籍圖底圖，比例尺 1:1800，估價師簽章欄。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地價使用分區圖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使用分區色塊與區段範圍。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地價區段圖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設施位置與量測路線。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A3 橫式 PNG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進 Excel 圖說工作表與意見書附圖。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200080" y="1304035"/>
            <a:ext cx="6516240" cy="4615689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pA_ske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316035"/>
            <a:ext cx="6492240" cy="459168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地價區段略圖（上傳送審書表的案件）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地圖互動檢視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② 產出書表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三張圖切換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區段略圖、使用分區圖、地價區段圖。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點設施看距離線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步行路徑或直線，與書表填載值對照。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接近條件清單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每筆標來源（送審書表抽取／量測）與量測方式。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比較標的位置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沒有地籍界線時可點圖設定。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43589" y="1176720"/>
            <a:ext cx="6029222" cy="487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p_intera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589" y="1188720"/>
            <a:ext cx="6005222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地圖互動檢視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42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>
                <a:solidFill>
                  <a:srgbClr val="5CE1E6"/>
                </a:solidFill>
                <a:latin typeface="Microsoft JhengHe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Microsoft JhengHei"/>
              </a:rPr>
              <a:t>③ 審查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2A7D8"/>
                </a:solidFill>
                <a:latin typeface="Microsoft JhengHei"/>
              </a:rPr>
              <a:t>逐項比對／承辦裁決／審查意見書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8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逐項比對：每一列都有依據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③ 審查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七個審查重點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i 勘查表 → vii 跨表抄填，對應作業手冊審查重點。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每列欄位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結果、書表、位置、估價單位填載、系統核算、說明、依據、追溯、承辦裁決。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依據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查估辦法條號或手冊頁碼，例如「手冊 p.49 (六)3(3)」。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追溯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「看基準表格位」跳到判定條件與矩陣格位。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分組與篩選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全案／各比較標的；僅不符、僅需確認、僅備註。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045069" y="1176720"/>
            <a:ext cx="4826262" cy="487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ismatch_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7069" y="1188720"/>
            <a:ext cx="4802262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範例二：5 項不符、1 項需確認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需確認與不符分開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③ 審查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範本案結果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全部相符＋1 項需確認。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需確認的例子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道路種類最大修正率 8% 超過內政部個別因素評價基準表上限 5%，是範本本身疑點，不判錯。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推定值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系統推定的距離、等級一律只列需確認。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不符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只有估價單位填載值與規則核算值不一致才列不符。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200080" y="1515216"/>
            <a:ext cx="6516240" cy="4193328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view_confirm_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527216"/>
            <a:ext cx="6492240" cy="41693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範例一：需確認列的說明與依據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32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承辦裁決與操作紀錄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③ 審查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兩種裁決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接受填載（經審酌採估價單位之值，填理由）、維持不符（請估價單位補正）。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寫進意見書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裁決、理由、裁決人都進意見書逐條意見。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操作紀錄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時間、操作者、動作、內容；建案、重新產生、裁決、匯出全部留痕。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產出過期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輸入改動後產出標「已過期」，裁決對不到新不符項標過期。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44786" y="1176720"/>
            <a:ext cx="6026828" cy="487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cisions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6786" y="1188720"/>
            <a:ext cx="6002828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承辦裁決欄與操作紀錄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33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審查意見書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③ 審查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結論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相符／需確認／不符請補正後再送審。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核算摘要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各比較標的區域因素調整、個別因素合計、試算價格、權重；比準地比較價格與地價。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逐條意見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[F-001] 書表、格位、填載值、核算值、依據、承辦裁決（裁決人）。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附件與落款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三張圖說；落款用操作身分。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輸出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Word、PDF；語言模型潤飾預設關閉，開啟時守門（標籤齊、沒有新數字，否則退回原句）。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07857" y="1176720"/>
            <a:ext cx="4500685" cy="4870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opin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9857" y="1188720"/>
            <a:ext cx="4476685" cy="4846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範例二的審查意見書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42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>
                <a:solidFill>
                  <a:srgbClr val="5CE1E6"/>
                </a:solidFill>
                <a:latin typeface="Microsoft JhengHe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Microsoft JhengHei"/>
              </a:rPr>
              <a:t>④ 輸出與案件管理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2A7D8"/>
                </a:solidFill>
                <a:latin typeface="Microsoft JhengHei"/>
              </a:rPr>
              <a:t>一列多格式／案件生命週期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8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35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輸出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④ 輸出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下載全部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一個 zip：書表、意見書、三張圖、清冊、實例。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查估書表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Excel（勘查表每區段一張＋兩表＋三圖）、PDF 照範本頁序。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地政局正式範本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表3（每區段一張）、表5-1、表4 直接寫進範本格位，格式不動。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審查意見書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Word、PDF。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三張圖說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PNG A3。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可再匯入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宗地個別因素清冊、買賣實例 xlsx 填好可再匯入。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200080" y="1549699"/>
            <a:ext cx="6516240" cy="4124362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x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561699"/>
            <a:ext cx="6492240" cy="41003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輸出頁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案件生命週期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④ 輸出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48056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狀態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草稿 → 審查中 → 已完成，在案件列切換。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輸入與產出時間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輸入最後修改、產出最後產生；不一致標「產出已過期」，按「重新產生書表」。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重置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清空重填，或回到原始輸入（保留匯入的地籍圖與區段圖）。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另存新案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同一輸入試不同基準表。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500" b="1">
                <a:solidFill>
                  <a:srgbClr val="9A3412"/>
                </a:solidFill>
                <a:latin typeface="Microsoft JhengHei"/>
              </a:rPr>
              <a:t>封存與復原　</a:t>
            </a:r>
            <a:r>
              <a:rPr sz="1500" b="0">
                <a:solidFill>
                  <a:srgbClr val="1F2937"/>
                </a:solidFill>
                <a:latin typeface="Microsoft JhengHei"/>
              </a:rPr>
              <a:t>清單勾「已封存」可復原。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200080" y="2147668"/>
            <a:ext cx="6516240" cy="2928423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ome_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2159668"/>
            <a:ext cx="6492240" cy="290442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12080" y="6080760"/>
            <a:ext cx="6492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案件清單與狀態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1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42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>
                <a:solidFill>
                  <a:srgbClr val="5CE1E6"/>
                </a:solidFill>
                <a:latin typeface="Microsoft JhengHe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Microsoft JhengHei"/>
              </a:rPr>
              <a:t>技術與部署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2A7D8"/>
                </a:solidFill>
                <a:latin typeface="Microsoft JhengHei"/>
              </a:rPr>
              <a:t>依「黑客松競賽環境規範與限制」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8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38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系統架構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3108960" cy="146304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前端 Next.js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書表預覽、地圖（Leaflet）、審查、
輸出；一頁一主鍵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371600"/>
            <a:ext cx="3291840" cy="146304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後端 FastAPI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engine 規則引擎／spatial 空間／market 市場
／report 報表／maps 圖說／adapters 匯入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03920" y="1371600"/>
            <a:ext cx="3108960" cy="1463040"/>
          </a:xfrm>
          <a:prstGeom prst="roundRect">
            <a:avLst>
              <a:gd name="adj" fmla="val 12000"/>
            </a:avLst>
          </a:prstGeom>
          <a:solidFill>
            <a:srgbClr val="0A1657"/>
          </a:solidFill>
          <a:ln w="19050">
            <a:solidFill>
              <a:srgbClr val="F2A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Amazon Bedrock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只做意見書潤飾與掃描件辨識
（守門檢查；可切 mock）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749039" y="2103120"/>
            <a:ext cx="731521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772400" y="2103120"/>
            <a:ext cx="731520" cy="0"/>
          </a:xfrm>
          <a:prstGeom prst="line">
            <a:avLst/>
          </a:prstGeom>
          <a:ln w="28575">
            <a:solidFill>
              <a:srgbClr val="F2A7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40080" y="3291840"/>
            <a:ext cx="10972800" cy="137160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本機資料層（不依賴外部 API）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規則 JSON（基準表、上限、量測方式、土管要點、建物成本、物價指數）｜案件 JSON 與操作紀錄｜SQLite R-tree 全區圖資依案件範圍局部載入（路網、步行圖、設施、門牌、分區）｜實價登錄、地價指數、淹水潛勢、地籍圖｜底圖瓦片快取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126480" y="2834640"/>
            <a:ext cx="0" cy="45720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4937760"/>
            <a:ext cx="1097280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測試　</a:t>
            </a:r>
            <a:r>
              <a:rPr sz="1400" b="0">
                <a:solidFill>
                  <a:srgbClr val="FFFFFF"/>
                </a:solidFill>
                <a:latin typeface="Microsoft JhengHei"/>
              </a:rPr>
              <a:t>185 個自動測試：範本驗收、手冊算例、決賽題目、adapter、輸出、API。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隔離不確定性　</a:t>
            </a:r>
            <a:r>
              <a:rPr sz="1400" b="0">
                <a:solidFill>
                  <a:srgbClr val="FFFFFF"/>
                </a:solidFill>
                <a:latin typeface="Microsoft JhengHei"/>
              </a:rPr>
              <a:t>當天資料格式不明只改 adapter；帳號權限不明只改 deploy。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3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39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AWS 部署（依競賽規範）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2194560" cy="1188720"/>
          </a:xfrm>
          <a:prstGeom prst="roundRect">
            <a:avLst>
              <a:gd name="adj" fmla="val 12000"/>
            </a:avLst>
          </a:prstGeom>
          <a:solidFill>
            <a:srgbClr val="0A1657"/>
          </a:solidFill>
          <a:ln w="19050">
            <a:solidFill>
              <a:srgbClr val="F2A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使用者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評審／承辦瀏覽器
HTTPS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0" y="1371600"/>
            <a:ext cx="4937760" cy="118872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EC2 標準型（us-west-2）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Caddy 443 → Next.js 3000 ／ FastAPI 8000（本機）
Security Group 對外只開 443／80，SSH 限單一 IP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35440" y="13716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0A1657"/>
          </a:solidFill>
          <a:ln w="19050">
            <a:solidFill>
              <a:srgbClr val="F2A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Amazon Bedrock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&lt; 1 RPS，只開通用到的模型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34640" y="1965960"/>
            <a:ext cx="73152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503920" y="1965960"/>
            <a:ext cx="731520" cy="0"/>
          </a:xfrm>
          <a:prstGeom prst="line">
            <a:avLst/>
          </a:prstGeom>
          <a:ln w="28575">
            <a:solidFill>
              <a:srgbClr val="F2A7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566160" y="2926080"/>
            <a:ext cx="4937760" cy="91440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EBS 資料卷約 2 GB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圖資、實價登錄、規則、案件；S3 若用只做私有備份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35040" y="2560320"/>
            <a:ext cx="0" cy="36576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4114800"/>
            <a:ext cx="1097280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區域　</a:t>
            </a:r>
            <a:r>
              <a:rPr sz="1400" b="0">
                <a:solidFill>
                  <a:srgbClr val="FFFFFF"/>
                </a:solidFill>
                <a:latin typeface="Microsoft JhengHei"/>
              </a:rPr>
              <a:t>us-west-2（競賽指定區域之一）；正式網址 https://54.188.82.141.sslip.io/。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執行個體　</a:t>
            </a:r>
            <a:r>
              <a:rPr sz="1400" b="0">
                <a:solidFill>
                  <a:srgbClr val="FFFFFF"/>
                </a:solidFill>
                <a:latin typeface="Microsoft JhengHei"/>
              </a:rPr>
              <a:t>Standard 系列（規範允許 256 vCPU），不用 GPU、不做模型訓練。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安全　</a:t>
            </a:r>
            <a:r>
              <a:rPr sz="1400" b="0">
                <a:solidFill>
                  <a:srgbClr val="FFFFFF"/>
                </a:solidFill>
                <a:latin typeface="Microsoft JhengHei"/>
              </a:rPr>
              <a:t>不建立對外全開的 Security Group；不開公開 S3；機密走環境變數與 .gitignore，repo 私有。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資料　</a:t>
            </a:r>
            <a:r>
              <a:rPr sz="1400" b="0">
                <a:solidFill>
                  <a:srgbClr val="FFFFFF"/>
                </a:solidFill>
                <a:latin typeface="Microsoft JhengHei"/>
              </a:rPr>
              <a:t>不上傳個人資料；實價登錄為去識別化公開資料，操作身分用職稱。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自動部署　</a:t>
            </a:r>
            <a:r>
              <a:rPr sz="1400" b="0">
                <a:solidFill>
                  <a:srgbClr val="FFFFFF"/>
                </a:solidFill>
                <a:latin typeface="Microsoft JhengHei"/>
              </a:rPr>
              <a:t>推上 GitHub 主線，主機每 60 秒拉取、依變更重建；健康檢查失敗自動回滾。從零佈建見 deploy/runbook_ec2.md。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3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限制與後續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技術與部署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600" b="1">
                <a:solidFill>
                  <a:srgbClr val="9A3412"/>
                </a:solidFill>
                <a:latin typeface="Microsoft JhengHei"/>
              </a:rPr>
              <a:t>收益法　</a:t>
            </a:r>
            <a:r>
              <a:rPr sz="1600" b="0">
                <a:solidFill>
                  <a:srgbClr val="1F2937"/>
                </a:solidFill>
                <a:latin typeface="Microsoft JhengHei"/>
              </a:rPr>
              <a:t>查估辦法 §14 未實作（實價登錄無收益資料），列人工填寫。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600" b="1">
                <a:solidFill>
                  <a:srgbClr val="9A3412"/>
                </a:solidFill>
                <a:latin typeface="Microsoft JhengHei"/>
              </a:rPr>
              <a:t>樓層別效用比率　</a:t>
            </a:r>
            <a:r>
              <a:rPr sz="1600" b="0">
                <a:solidFill>
                  <a:srgbClr val="1F2937"/>
                </a:solidFill>
                <a:latin typeface="Microsoft JhengHei"/>
              </a:rPr>
              <a:t>第四號公報無表，區分所有建物由估價師填。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600" b="1">
                <a:solidFill>
                  <a:srgbClr val="9A3412"/>
                </a:solidFill>
                <a:latin typeface="Microsoft JhengHei"/>
              </a:rPr>
              <a:t>地籍圖　</a:t>
            </a:r>
            <a:r>
              <a:rPr sz="1600" b="0">
                <a:solidFill>
                  <a:srgbClr val="1F2937"/>
                </a:solidFill>
                <a:latin typeface="Microsoft JhengHei"/>
              </a:rPr>
              <a:t>現用開放地籍查詢（非即時，界線與面積標推定），也可匯入圖檔；正式版需國土測繪中心地籍 API（地政局名義申請）。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600" b="1">
                <a:solidFill>
                  <a:srgbClr val="9A3412"/>
                </a:solidFill>
                <a:latin typeface="Microsoft JhengHei"/>
              </a:rPr>
              <a:t>期日調整　</a:t>
            </a:r>
            <a:r>
              <a:rPr sz="1600" b="0">
                <a:solidFill>
                  <a:srgbClr val="1F2937"/>
                </a:solidFill>
                <a:latin typeface="Microsoft JhengHei"/>
              </a:rPr>
              <a:t>決賽題目依樹林區平均區段地價表調整；111 年樹林區資料未取得，系統採題目值，無法驗算。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600" b="1">
                <a:solidFill>
                  <a:srgbClr val="9A3412"/>
                </a:solidFill>
                <a:latin typeface="Microsoft JhengHei"/>
              </a:rPr>
              <a:t>土管要點　</a:t>
            </a:r>
            <a:r>
              <a:rPr sz="1600" b="0">
                <a:solidFill>
                  <a:srgbClr val="1F2937"/>
                </a:solidFill>
                <a:latin typeface="Microsoft JhengHei"/>
              </a:rPr>
              <a:t>48 個計畫區自動抽取，8 個抓不到表退回施行細則附表一，多表不一致標需人工核對。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600" b="1">
                <a:solidFill>
                  <a:srgbClr val="9A3412"/>
                </a:solidFill>
                <a:latin typeface="Microsoft JhengHei"/>
              </a:rPr>
              <a:t>推定門檻　</a:t>
            </a:r>
            <a:r>
              <a:rPr sz="1600" b="0">
                <a:solidFill>
                  <a:srgbClr val="1F2937"/>
                </a:solidFill>
                <a:latin typeface="Microsoft JhengHei"/>
              </a:rPr>
              <a:t>勘查表推定規則為系統自訂，待地政局確認後調整。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6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600" b="1">
                <a:solidFill>
                  <a:srgbClr val="9A3412"/>
                </a:solidFill>
                <a:latin typeface="Microsoft JhengHei"/>
              </a:rPr>
              <a:t>底圖　</a:t>
            </a:r>
            <a:r>
              <a:rPr sz="1600" b="0">
                <a:solidFill>
                  <a:srgbClr val="1F2937"/>
                </a:solidFill>
                <a:latin typeface="Microsoft JhengHei"/>
              </a:rPr>
              <a:t>國土測繪中心瓦片在境外主機的連線需確認；金山一帶已快取可離線。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8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40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Demo 與結語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2A7D8"/>
                </a:solidFill>
                <a:latin typeface="Microsoft JhengHei"/>
              </a:rPr>
              <a:t>估價單位送來什麼就逐格核算；沒送也能先產一版；每個數字都能點回法源。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35661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CE1E6"/>
                </a:solidFill>
                <a:latin typeface="Microsoft JhengHei"/>
              </a:rPr>
              <a:t>送審書表 → 逐格核算</a:t>
            </a:r>
          </a:p>
        </p:txBody>
      </p:sp>
      <p:pic>
        <p:nvPicPr>
          <p:cNvPr id="6" name="Picture 5" descr="review_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61799"/>
            <a:ext cx="3566160" cy="24087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49834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2A7D8"/>
                </a:solidFill>
                <a:latin typeface="Microsoft JhengHei"/>
              </a:rPr>
              <a:t>範本案 212,958 元/m² 全部重現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1737360"/>
            <a:ext cx="35661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CE1E6"/>
                </a:solidFill>
                <a:latin typeface="Microsoft JhengHei"/>
              </a:rPr>
              <a:t>決賽題目 → 全自動填表</a:t>
            </a:r>
          </a:p>
        </p:txBody>
      </p:sp>
      <p:pic>
        <p:nvPicPr>
          <p:cNvPr id="9" name="Picture 8" descr="shulin_t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2305396"/>
            <a:ext cx="3566160" cy="252152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34840" y="49834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2A7D8"/>
                </a:solidFill>
                <a:latin typeface="Microsoft JhengHei"/>
              </a:rPr>
              <a:t>上傳兩個檔，約一分鐘填完六張表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737360"/>
            <a:ext cx="35661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CE1E6"/>
                </a:solidFill>
                <a:latin typeface="Microsoft JhengHei"/>
              </a:rPr>
              <a:t>容積率 → 抓出不一致</a:t>
            </a:r>
          </a:p>
        </p:txBody>
      </p:sp>
      <p:pic>
        <p:nvPicPr>
          <p:cNvPr id="12" name="Picture 11" descr="frontage_3com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930735"/>
            <a:ext cx="3566160" cy="127084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0" y="49834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2A7D8"/>
                </a:solidFill>
                <a:latin typeface="Microsoft JhengHei"/>
              </a:rPr>
              <a:t>量臨路寬度套但書，列需確認不判錯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08615" y="5349240"/>
            <a:ext cx="109728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qr_deplo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54335" y="5394960"/>
            <a:ext cx="1005840" cy="1005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808415" y="5715000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CE1E6"/>
                </a:solidFill>
                <a:latin typeface="Microsoft JhengHei"/>
              </a:rPr>
              <a:t>掃描開啟系統 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66928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JhengHei"/>
              </a:rPr>
              <a:t>隊名 AI城市起風　吳昭奇・洪湛閎・丁家麒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19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決賽題目：上傳兩個檔，全自動填完六張表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F2A7D8"/>
                </a:solidFill>
                <a:latin typeface="Microsoft JhengHei"/>
              </a:rPr>
              <a:t>新北市樹林區普通住宅用地｜比準地 樹德段1415地號｜四個地價區段、三筆比較標的｜題目表4 個別因素全部空白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2514600" cy="109728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上傳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題目.pdf
評價基準明細表.pdf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54680" y="2331720"/>
            <a:ext cx="32004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474720" y="1783080"/>
            <a:ext cx="2514600" cy="109728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解析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四張勘查表、表5-1、表4
基準表 29＋20 細項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989320" y="2331720"/>
            <a:ext cx="32004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309360" y="1783080"/>
            <a:ext cx="2514600" cy="109728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宗地界線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開放地籍查詢
比準地與三筆比較標的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823960" y="2331720"/>
            <a:ext cx="32004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144000" y="1783080"/>
            <a:ext cx="2514600" cy="109728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區段範圍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四至文字＋路網
圍出四個區段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0" y="3383280"/>
            <a:ext cx="2514600" cy="109728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勘查表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四個區段
各推算 28 欄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8823960" y="3931920"/>
            <a:ext cx="32004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383280"/>
            <a:ext cx="2514600" cy="109728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設施距離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步行路網量測
學校、市場、公園…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5989320" y="3931920"/>
            <a:ext cx="32004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474720" y="3383280"/>
            <a:ext cx="2514600" cy="109728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個別因素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表4 第 7～25 項
面積、寬深、臨路…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3154680" y="3931920"/>
            <a:ext cx="320040" cy="0"/>
          </a:xfrm>
          <a:prstGeom prst="line">
            <a:avLst/>
          </a:prstGeom>
          <a:ln w="28575">
            <a:solidFill>
              <a:srgbClr val="5CE1E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40080" y="3383280"/>
            <a:ext cx="2514600" cy="1097280"/>
          </a:xfrm>
          <a:prstGeom prst="roundRect">
            <a:avLst>
              <a:gd name="adj" fmla="val 12000"/>
            </a:avLst>
          </a:prstGeom>
          <a:solidFill>
            <a:srgbClr val="14247A"/>
          </a:solidFill>
          <a:ln w="19050">
            <a:solidFill>
              <a:srgbClr val="5C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核算</a:t>
            </a:r>
          </a:p>
          <a:p>
            <a:pPr algn="ctr"/>
            <a:r>
              <a:rPr sz="1100" b="0">
                <a:solidFill>
                  <a:srgbClr val="F2A7D8"/>
                </a:solidFill>
                <a:latin typeface="Microsoft JhengHei"/>
              </a:rPr>
              <a:t>表5-1、表4
比較價格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401300" y="2880360"/>
            <a:ext cx="0" cy="502920"/>
          </a:xfrm>
          <a:prstGeom prst="line">
            <a:avLst/>
          </a:prstGeom>
          <a:ln w="28575">
            <a:solidFill>
              <a:srgbClr val="F2A7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080" y="4754880"/>
            <a:ext cx="109728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時間　</a:t>
            </a:r>
            <a:r>
              <a:rPr sz="1400" b="0">
                <a:solidFill>
                  <a:srgbClr val="FFFFFF"/>
                </a:solidFill>
                <a:latin typeface="Microsoft JhengHei"/>
              </a:rPr>
              <a:t>本機從上傳到填完約 20 秒；正式站約 1 分鐘。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讀懂備註　</a:t>
            </a:r>
            <a:r>
              <a:rPr sz="1400" b="0">
                <a:solidFill>
                  <a:srgbClr val="FFFFFF"/>
                </a:solidFill>
                <a:latin typeface="Microsoft JhengHei"/>
              </a:rPr>
              <a:t>表5-1「使用分區、建蔽率、容積率併同表4 考量」→ 三項在表5-1 自動免修正。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審查也讀備註　</a:t>
            </a:r>
            <a:r>
              <a:rPr sz="1400" b="0">
                <a:solidFill>
                  <a:srgbClr val="FFFFFF"/>
                </a:solidFill>
                <a:latin typeface="Microsoft JhengHei"/>
              </a:rPr>
              <a:t>表4 全案備註已敘明查估辦法 §17 第3項擴大蒐集期間 → 交易日期只列備註。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22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決賽題目產出：直接寫進地政局範本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決賽題目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7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143000"/>
            <a:ext cx="1106424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區域因素總修正數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18.00%／14.75%／6.75%（使用分區、建蔽率、容積率依表5-1 備註免修正）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個別因素合計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−15.75%／−23.25%／−26.25%；權重 30／50／20（差異百分率絕對值加總排名）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比準地比較價格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131,529 元/m²；比準地地價 132,000 元/m²（查估辦法 §21 尾數）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19982" y="2365440"/>
            <a:ext cx="2674835" cy="3773039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hulin_t3_p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982" y="2377440"/>
            <a:ext cx="2650835" cy="37490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63572" y="2365440"/>
            <a:ext cx="5326212" cy="3773039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hulin_t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5572" y="2377440"/>
            <a:ext cx="5302212" cy="37490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61722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左：地價區段勘查表 P002-00（四個區段各一頁）　右：比較法調查估價表（個別因素 7～25 全部填好，全案備註讀自題目）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20040"/>
            <a:ext cx="8686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F2937"/>
                </a:solidFill>
                <a:latin typeface="Microsoft JhengHei"/>
              </a:rPr>
              <a:t>系統抓到的問題：容積率 200% 還是 260%？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9775" y="457200"/>
            <a:ext cx="3474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9A3412"/>
                </a:solidFill>
                <a:latin typeface="Microsoft JhengHei"/>
              </a:rPr>
              <a:t>決賽題目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7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1106424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題目勘查表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P002-00 填 200%；P001、P003、P004 填 260%。同為第一種住宅區，數字不同。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核對土管要點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樹林都市計畫 2020 通盤檢討與 2023 第四點修正兩版：住一 260%；但書：面臨計畫道路未達 8 m 或依現有巷道建築者，住一、住二上限 200%。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量臨路寬度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以都市計畫圖道路用地量宗地臨路寬：三筆比較標的都適用但書。P002-00 的 200% 吻合；P003、P004 的 260% 與宗地不一致。</a:t>
            </a:r>
          </a:p>
          <a:p>
            <a:pPr>
              <a:lnSpc>
                <a:spcPct val="112000"/>
              </a:lnSpc>
              <a:spcAft>
                <a:spcPts val="300"/>
              </a:spcAft>
            </a:pPr>
            <a:r>
              <a:rPr sz="1400" b="1">
                <a:solidFill>
                  <a:srgbClr val="EA580C"/>
                </a:solidFill>
                <a:latin typeface="Microsoft JhengHei"/>
              </a:rPr>
              <a:t>•  </a:t>
            </a:r>
            <a:r>
              <a:rPr sz="1400" b="1">
                <a:solidFill>
                  <a:srgbClr val="9A3412"/>
                </a:solidFill>
                <a:latin typeface="Microsoft JhengHei"/>
              </a:rPr>
              <a:t>系統處理　</a:t>
            </a:r>
            <a:r>
              <a:rPr sz="1400" b="0">
                <a:solidFill>
                  <a:srgbClr val="1F2937"/>
                </a:solidFill>
                <a:latin typeface="Microsoft JhengHei"/>
              </a:rPr>
              <a:t>列「需確認」並附但書原文，交承辦裁定，不判錯；容積率在基準表為人工判定項，不影響比較價格。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3291" y="3188400"/>
            <a:ext cx="8234938" cy="295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5D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rontage_3com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291" y="3200400"/>
            <a:ext cx="8210938" cy="2926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1722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Microsoft JhengHei"/>
              </a:rPr>
              <a:t>紅＝宗地界線（開放地籍查詢）　灰＝都市計畫道路用地　藍線＝路網　底圖：國土測繪中心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42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>
                <a:solidFill>
                  <a:srgbClr val="5CE1E6"/>
                </a:solidFill>
                <a:latin typeface="Microsoft JhengHei"/>
              </a:rPr>
              <a:t>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Microsoft JhengHei"/>
              </a:rPr>
              <a:t>功能細節與技術說明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2A7D8"/>
                </a:solidFill>
                <a:latin typeface="Microsoft JhengHei"/>
              </a:rPr>
              <a:t>統問統答時依題目翻閱；依原流程排列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AI 輔助不動產估價案件審查　｜　AI城市起風</a:t>
            </a:r>
          </a:p>
        </p:txBody>
      </p:sp>
      <p:sp>
        <p:nvSpPr>
          <p:cNvPr id="8" name="page_no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5CE1E6"/>
                </a:solidFill>
                <a:latin typeface="Microsoft JhengHe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